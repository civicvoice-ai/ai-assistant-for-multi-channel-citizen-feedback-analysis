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IBM Plex Sans Condensed" panose="020F0502020204030204" pitchFamily="34" charset="0"/>
      <p:regular r:id="rId23"/>
    </p:embeddedFont>
    <p:embeddedFont>
      <p:font typeface="IBM Plex Sans Condensed Italics" panose="020B0604020202020204" charset="0"/>
      <p:regular r:id="rId24"/>
    </p:embeddedFont>
    <p:embeddedFont>
      <p:font typeface="Open Sans" panose="020F0502020204030204" pitchFamily="34" charset="0"/>
      <p:regular r:id="rId25"/>
    </p:embeddedFont>
    <p:embeddedFont>
      <p:font typeface="Times New Roman Bold" panose="02020803070505020304" pitchFamily="18" charset="0"/>
      <p:bold r:id="rId26"/>
    </p:embeddedFont>
    <p:embeddedFont>
      <p:font typeface="Verdana" panose="020B060403050404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3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ACCESS.2020.3004541" TargetMode="External"/><Relationship Id="rId3" Type="http://schemas.openxmlformats.org/officeDocument/2006/relationships/image" Target="../media/image19.svg"/><Relationship Id="rId7" Type="http://schemas.openxmlformats.org/officeDocument/2006/relationships/hyperlink" Target="https://doi.org/10.1109/ACCESS.2025.3641669" TargetMode="Externa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ISC257844.2023.10293572" TargetMode="Externa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85960"/>
            <a:ext cx="18288000" cy="701040"/>
            <a:chOff x="0" y="0"/>
            <a:chExt cx="24384000" cy="934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34720"/>
            </a:xfrm>
            <a:custGeom>
              <a:avLst/>
              <a:gdLst/>
              <a:ahLst/>
              <a:cxnLst/>
              <a:rect l="l" t="t" r="r" b="b"/>
              <a:pathLst>
                <a:path w="24384000" h="934720">
                  <a:moveTo>
                    <a:pt x="0" y="0"/>
                  </a:moveTo>
                  <a:lnTo>
                    <a:pt x="24384000" y="0"/>
                  </a:lnTo>
                  <a:lnTo>
                    <a:pt x="2438400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6990"/>
            <a:chOff x="0" y="0"/>
            <a:chExt cx="24384000" cy="13715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03376" y="569976"/>
            <a:ext cx="2069592" cy="448056"/>
            <a:chOff x="0" y="0"/>
            <a:chExt cx="2759456" cy="5974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59456" cy="597408"/>
            </a:xfrm>
            <a:custGeom>
              <a:avLst/>
              <a:gdLst/>
              <a:ahLst/>
              <a:cxnLst/>
              <a:rect l="l" t="t" r="r" b="b"/>
              <a:pathLst>
                <a:path w="2759456" h="597408">
                  <a:moveTo>
                    <a:pt x="0" y="0"/>
                  </a:moveTo>
                  <a:lnTo>
                    <a:pt x="2759456" y="0"/>
                  </a:lnTo>
                  <a:lnTo>
                    <a:pt x="2759456" y="597408"/>
                  </a:lnTo>
                  <a:lnTo>
                    <a:pt x="0" y="59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80" b="-17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9662160"/>
            <a:ext cx="18288000" cy="624802"/>
            <a:chOff x="0" y="0"/>
            <a:chExt cx="24384000" cy="8330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833120"/>
            </a:xfrm>
            <a:custGeom>
              <a:avLst/>
              <a:gdLst/>
              <a:ahLst/>
              <a:cxnLst/>
              <a:rect l="l" t="t" r="r" b="b"/>
              <a:pathLst>
                <a:path w="24384000" h="833120">
                  <a:moveTo>
                    <a:pt x="0" y="0"/>
                  </a:moveTo>
                  <a:lnTo>
                    <a:pt x="24384000" y="0"/>
                  </a:lnTo>
                  <a:lnTo>
                    <a:pt x="24384000" y="833120"/>
                  </a:lnTo>
                  <a:lnTo>
                    <a:pt x="0" y="83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5" r="-155" b="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109310" y="670227"/>
            <a:ext cx="148295" cy="3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59053" y="5692016"/>
            <a:ext cx="435604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3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School of Artificial Computing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8965" y="5634866"/>
            <a:ext cx="252175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Intelligence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2166" y="5634866"/>
            <a:ext cx="31960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 Advanced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705" y="3424733"/>
            <a:ext cx="17074972" cy="148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2"/>
              </a:lnSpc>
            </a:pPr>
            <a:r>
              <a:rPr lang="en-US" sz="8594" spc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PRESIDENCY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609601" y="1643577"/>
            <a:ext cx="15113660" cy="62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3744" i="1" spc="7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CIVIC-VOICE An AI .Assistant for Multi-Channel Citizen Feedback Analysis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43315" y="2213267"/>
            <a:ext cx="3499561" cy="62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746" i="1" spc="7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in Public Services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6034" y="3685984"/>
            <a:ext cx="3729238" cy="53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Batch Number: CAI-20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0190" y="6766627"/>
            <a:ext cx="4800962" cy="53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Name of the Program: B.Tech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47690" y="7212178"/>
            <a:ext cx="85496" cy="53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4483" y="7657186"/>
            <a:ext cx="85496" cy="53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190" y="8101898"/>
            <a:ext cx="9545926" cy="53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Dr. Sampath A 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0304" y="4560379"/>
            <a:ext cx="2064315" cy="160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9"/>
              </a:lnSpc>
            </a:pPr>
            <a:r>
              <a:rPr lang="en-US" sz="271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Roll Number</a:t>
            </a:r>
          </a:p>
          <a:p>
            <a:pPr algn="just">
              <a:lnSpc>
                <a:spcPts val="2907"/>
              </a:lnSpc>
            </a:pPr>
            <a:r>
              <a:rPr lang="en-US" sz="2114" spc="-14">
                <a:solidFill>
                  <a:srgbClr val="17365D"/>
                </a:solidFill>
                <a:latin typeface="Open Sans"/>
                <a:ea typeface="Open Sans"/>
                <a:cs typeface="Open Sans"/>
                <a:sym typeface="Open Sans"/>
              </a:rPr>
              <a:t>20231CAI0117 20231CAI0120 20231CAI0115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25970" y="5906186"/>
            <a:ext cx="2451945" cy="3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spc="-14">
                <a:solidFill>
                  <a:srgbClr val="17365D"/>
                </a:solidFill>
                <a:latin typeface="Open Sans"/>
                <a:ea typeface="Open Sans"/>
                <a:cs typeface="Open Sans"/>
                <a:sym typeface="Open Sans"/>
              </a:rPr>
              <a:t>Sahana Haragapure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08711" y="4564666"/>
            <a:ext cx="97755" cy="48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970" y="5006121"/>
            <a:ext cx="2843679" cy="78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112" spc="-14">
                <a:solidFill>
                  <a:srgbClr val="17365D"/>
                </a:solidFill>
                <a:latin typeface="Open Sans"/>
                <a:ea typeface="Open Sans"/>
                <a:cs typeface="Open Sans"/>
                <a:sym typeface="Open Sans"/>
              </a:rPr>
              <a:t>Inchara KR</a:t>
            </a:r>
          </a:p>
          <a:p>
            <a:pPr algn="l">
              <a:lnSpc>
                <a:spcPts val="3263"/>
              </a:lnSpc>
            </a:pPr>
            <a:r>
              <a:rPr lang="en-US" sz="2112" spc="-14">
                <a:solidFill>
                  <a:srgbClr val="17365D"/>
                </a:solidFill>
                <a:latin typeface="Open Sans"/>
                <a:ea typeface="Open Sans"/>
                <a:cs typeface="Open Sans"/>
                <a:sym typeface="Open Sans"/>
              </a:rPr>
              <a:t>Peddi Reddy Tejaswini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25970" y="4564666"/>
            <a:ext cx="2355171" cy="48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-US" sz="27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14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4298" y="3782406"/>
            <a:ext cx="5596442" cy="1832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61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</a:p>
          <a:p>
            <a:pPr algn="l">
              <a:lnSpc>
                <a:spcPts val="3000"/>
              </a:lnSpc>
            </a:pPr>
            <a:r>
              <a:rPr lang="en-US" sz="225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Dr. Jagadevi Bakka Assistant Professor School of Computer Science and Engineering Presidency University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0190" y="7212178"/>
            <a:ext cx="6247848" cy="53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Name of the HoD:Dr. ZafarAli Khan 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0190" y="7657186"/>
            <a:ext cx="10197389" cy="53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F81BD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Coordinator:Dr.JagadeviBakka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89374" y="625831"/>
            <a:ext cx="5557399" cy="53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CSS7102-Mini Project Review-03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268882" y="319421"/>
            <a:ext cx="1720120" cy="68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68395" y="1735207"/>
            <a:ext cx="9116980" cy="597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Abstract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Github Link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Objective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Analysis of Problem Statement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Dataset and Data Source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NLP Analysis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Achitecture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Timeline of the Project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Results and Insights</a:t>
            </a:r>
          </a:p>
          <a:p>
            <a:pPr marL="777758" lvl="1" indent="-388879" algn="l">
              <a:lnSpc>
                <a:spcPts val="4301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268882" y="319421"/>
            <a:ext cx="6977053" cy="68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Problem Statement Number: 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4161" y="1500187"/>
            <a:ext cx="16734834" cy="567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6"/>
              </a:lnSpc>
            </a:pPr>
            <a:r>
              <a:rPr lang="en-US" sz="30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Organization: Public Service Organizations (Government Agencies)</a:t>
            </a:r>
          </a:p>
          <a:p>
            <a:pPr algn="just">
              <a:lnSpc>
                <a:spcPts val="4207"/>
              </a:lnSpc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Category : Software</a:t>
            </a:r>
          </a:p>
          <a:p>
            <a:pPr algn="just">
              <a:lnSpc>
                <a:spcPts val="4207"/>
              </a:lnSpc>
              <a:spcBef>
                <a:spcPts val="4387"/>
              </a:spcBef>
            </a:pPr>
            <a:r>
              <a:rPr lang="en-US" sz="360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Description:</a:t>
            </a:r>
          </a:p>
          <a:p>
            <a:pPr algn="just">
              <a:lnSpc>
                <a:spcPts val="3504"/>
              </a:lnSpc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Citizen feedback is received through multiple channels such as government grievance portals, local complaint systems, social media, emails and surveys. These sources are heterogeneous and are often analyzedseparately,makingitdifficulttoidentifycommonissuesandemergingconcerns.</a:t>
            </a:r>
          </a:p>
          <a:p>
            <a:pPr algn="just">
              <a:lnSpc>
                <a:spcPts val="3504"/>
              </a:lnSpc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Civic Voice aims to unify multi-channel citizen feedback and apply NLP-based analysis to identify sentiment, recurring topics, important complaints and emerging issues through an interactive dashboard.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01239" y="7086143"/>
            <a:ext cx="102594" cy="63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4161" y="7086143"/>
            <a:ext cx="5953868" cy="63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Difficulty Level: Medium–High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0905" y="2069630"/>
            <a:ext cx="16318382" cy="457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80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CIVIC-VOICE is an AI-based system designed to analyze citizen feedback collected from multiple channels including government grievance portals, local complaints, surveys, social media and emails.</a:t>
            </a:r>
          </a:p>
          <a:p>
            <a:pPr algn="just">
              <a:lnSpc>
                <a:spcPts val="3599"/>
              </a:lnSpc>
            </a:pPr>
            <a:r>
              <a:rPr lang="en-US" sz="280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During the current implementation phase, heterogeneous datasets were collected, normalized and integrated into a unified master dataset. A text preprocessing pipeline was developed to clean and standardize citizen feedback and prepare it for downstream NLP analysis.</a:t>
            </a:r>
          </a:p>
          <a:p>
            <a:pPr algn="just">
              <a:lnSpc>
                <a:spcPts val="3599"/>
              </a:lnSpc>
            </a:pPr>
            <a:r>
              <a:rPr lang="en-US" sz="280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current master dataset contains 205,168 feedback records from five sources. Data validation and exploratory analysis were performed to examine text quality, missing information, urgency distribution and other data-quality issues.</a:t>
            </a:r>
          </a:p>
          <a:p>
            <a:pPr algn="just">
              <a:lnSpc>
                <a:spcPts val="3599"/>
              </a:lnSpc>
            </a:pPr>
            <a:r>
              <a:rPr lang="en-US" sz="280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processed dataset will be used for subsequent sentiment analysis, topic detection, issue classification, prioritization and dashboard development.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142" y="604161"/>
            <a:ext cx="1990715" cy="68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Abstract: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74905" y="4203068"/>
            <a:ext cx="14383512" cy="24384"/>
          </a:xfrm>
          <a:custGeom>
            <a:avLst/>
            <a:gdLst/>
            <a:ahLst/>
            <a:cxnLst/>
            <a:rect l="l" t="t" r="r" b="b"/>
            <a:pathLst>
              <a:path w="14383512" h="24384">
                <a:moveTo>
                  <a:pt x="0" y="0"/>
                </a:moveTo>
                <a:lnTo>
                  <a:pt x="14383512" y="0"/>
                </a:lnTo>
                <a:lnTo>
                  <a:pt x="14383512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4905" y="4736468"/>
            <a:ext cx="3572256" cy="24384"/>
          </a:xfrm>
          <a:custGeom>
            <a:avLst/>
            <a:gdLst/>
            <a:ahLst/>
            <a:cxnLst/>
            <a:rect l="l" t="t" r="r" b="b"/>
            <a:pathLst>
              <a:path w="3572256" h="24384">
                <a:moveTo>
                  <a:pt x="0" y="0"/>
                </a:moveTo>
                <a:lnTo>
                  <a:pt x="3572256" y="0"/>
                </a:lnTo>
                <a:lnTo>
                  <a:pt x="3572256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97454" y="322469"/>
            <a:ext cx="2529111" cy="68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Github Link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5286" y="2584875"/>
            <a:ext cx="2429656" cy="63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953735"/>
                </a:solidFill>
                <a:latin typeface="Cambria"/>
                <a:ea typeface="Cambria"/>
                <a:cs typeface="Cambria"/>
                <a:sym typeface="Cambria"/>
              </a:rPr>
              <a:t>Github Link: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2822" y="3652056"/>
            <a:ext cx="14576641" cy="63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953735"/>
                </a:solidFill>
                <a:latin typeface="Cambria"/>
                <a:ea typeface="Cambria"/>
                <a:cs typeface="Cambria"/>
                <a:sym typeface="Cambria"/>
              </a:rPr>
              <a:t>https://github.com/CivicVoice-AI/AI-Assistant-for-Multi-Channel-Citizen-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5286" y="4204221"/>
            <a:ext cx="3648161" cy="61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>
                <a:solidFill>
                  <a:srgbClr val="953735"/>
                </a:solidFill>
                <a:latin typeface="Cambria"/>
                <a:ea typeface="Cambria"/>
                <a:cs typeface="Cambria"/>
                <a:sym typeface="Cambria"/>
              </a:rPr>
              <a:t>Feedback-Analysis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2838" y="969865"/>
            <a:ext cx="14536744" cy="8347271"/>
          </a:xfrm>
          <a:custGeom>
            <a:avLst/>
            <a:gdLst/>
            <a:ahLst/>
            <a:cxnLst/>
            <a:rect l="l" t="t" r="r" b="b"/>
            <a:pathLst>
              <a:path w="14536744" h="8347271">
                <a:moveTo>
                  <a:pt x="0" y="0"/>
                </a:moveTo>
                <a:lnTo>
                  <a:pt x="14536744" y="0"/>
                </a:lnTo>
                <a:lnTo>
                  <a:pt x="14536744" y="8347270"/>
                </a:lnTo>
                <a:lnTo>
                  <a:pt x="0" y="834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00006" y="105276"/>
            <a:ext cx="4988855" cy="68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72275" y="2342365"/>
            <a:ext cx="15951203" cy="6620513"/>
          </a:xfrm>
          <a:custGeom>
            <a:avLst/>
            <a:gdLst/>
            <a:ahLst/>
            <a:cxnLst/>
            <a:rect l="l" t="t" r="r" b="b"/>
            <a:pathLst>
              <a:path w="15951203" h="6620513">
                <a:moveTo>
                  <a:pt x="0" y="0"/>
                </a:moveTo>
                <a:lnTo>
                  <a:pt x="15951203" y="0"/>
                </a:lnTo>
                <a:lnTo>
                  <a:pt x="15951203" y="6620513"/>
                </a:lnTo>
                <a:lnTo>
                  <a:pt x="0" y="6620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68882" y="319421"/>
            <a:ext cx="6719373" cy="654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Analysis of 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7454" y="1535478"/>
            <a:ext cx="6117031" cy="585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Technology Stack Components: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3456" y="2454773"/>
            <a:ext cx="1624022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2174" y="2454773"/>
            <a:ext cx="1570301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51079" y="2454773"/>
            <a:ext cx="1134970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2437" y="3721656"/>
            <a:ext cx="3298498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0394" y="8264090"/>
            <a:ext cx="1511903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2174" y="3721656"/>
            <a:ext cx="4689958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/ HTML, CSS, JavaScript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21007" y="7061883"/>
            <a:ext cx="82391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1079" y="7740239"/>
            <a:ext cx="6064691" cy="897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endParaRPr/>
          </a:p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 classification and model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1079" y="3721656"/>
            <a:ext cx="5175237" cy="897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 and dashboard</a:t>
            </a:r>
          </a:p>
          <a:p>
            <a:pPr>
              <a:lnSpc>
                <a:spcPts val="3564"/>
              </a:lnSpc>
            </a:pPr>
            <a:endParaRPr lang="en-US" sz="254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43456" y="6903787"/>
            <a:ext cx="1364999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&amp;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456" y="8037881"/>
            <a:ext cx="2393852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3456" y="5636943"/>
            <a:ext cx="3198943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spc="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32174" y="5636943"/>
            <a:ext cx="2556081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32174" y="7061883"/>
            <a:ext cx="5576426" cy="88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Hugging Face Transformers, BERT, </a:t>
            </a:r>
            <a:r>
              <a:rPr lang="en-US" sz="2544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NLTK,spaCy</a:t>
            </a: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1079" y="5636942"/>
            <a:ext cx="2950721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development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1079" y="7061883"/>
            <a:ext cx="6442025" cy="88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Textpreprocessing, sentiment analysis,summarization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72437" y="4885327"/>
            <a:ext cx="3298498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32174" y="4885327"/>
            <a:ext cx="4689958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Python, Flask (or FastAPI)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90460" y="4806271"/>
            <a:ext cx="5175237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development and application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32797" y="1562100"/>
            <a:ext cx="15951203" cy="7512053"/>
          </a:xfrm>
          <a:custGeom>
            <a:avLst/>
            <a:gdLst/>
            <a:ahLst/>
            <a:cxnLst/>
            <a:rect l="l" t="t" r="r" b="b"/>
            <a:pathLst>
              <a:path w="15951203" h="7512053">
                <a:moveTo>
                  <a:pt x="0" y="0"/>
                </a:moveTo>
                <a:lnTo>
                  <a:pt x="15951203" y="0"/>
                </a:lnTo>
                <a:lnTo>
                  <a:pt x="15951203" y="7512053"/>
                </a:lnTo>
                <a:lnTo>
                  <a:pt x="0" y="7512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1268882" y="319421"/>
            <a:ext cx="8786003" cy="65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Analysis of Problem Statement (contd...)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9751" y="1521066"/>
            <a:ext cx="1626660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98774" y="1521066"/>
            <a:ext cx="1573273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17679" y="1521066"/>
            <a:ext cx="1134970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9751" y="2886761"/>
            <a:ext cx="2103187" cy="12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7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</a:p>
          <a:p>
            <a:pPr>
              <a:lnSpc>
                <a:spcPts val="5207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751" y="6820205"/>
            <a:ext cx="2070564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8774" y="6820205"/>
            <a:ext cx="1809226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&amp; 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98774" y="2886761"/>
            <a:ext cx="2106806" cy="12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7"/>
              </a:lnSpc>
            </a:pPr>
            <a:r>
              <a:rPr lang="en-US" sz="25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Pandas, NumPy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7955" y="8047415"/>
            <a:ext cx="3036912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spc="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17679" y="7856906"/>
            <a:ext cx="3632625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web application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17679" y="2886761"/>
            <a:ext cx="5586193" cy="12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7"/>
              </a:lnSpc>
            </a:pPr>
            <a:r>
              <a:rPr lang="en-US" sz="2544" spc="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citizen feedback and analysis results Data cleaning and manipulation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17679" y="6820205"/>
            <a:ext cx="5775350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spc="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 management and collaboration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9751" y="4746393"/>
            <a:ext cx="1713300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98774" y="4746393"/>
            <a:ext cx="2290220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Plotly</a:t>
            </a:r>
            <a:r>
              <a:rPr lang="en-US" sz="254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Matplotlib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882" y="5782961"/>
            <a:ext cx="3632382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17679" y="4746393"/>
            <a:ext cx="3795055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Graphs, charts, and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17679" y="5782961"/>
            <a:ext cx="4193524" cy="4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 spc="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development and coding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3000" y="8047415"/>
            <a:ext cx="5122942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1"/>
              </a:lnSpc>
            </a:pPr>
            <a:r>
              <a:rPr lang="en-US" sz="2544" spc="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/ Railway / </a:t>
            </a:r>
            <a:r>
              <a:rPr lang="en-US" sz="2544" spc="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544" spc="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8774" y="5974459"/>
            <a:ext cx="3997779" cy="422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4"/>
              </a:lnSpc>
            </a:pPr>
            <a:r>
              <a:rPr lang="en-US" sz="254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 Notebook, 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2805" y="1273953"/>
            <a:ext cx="13318462" cy="8525831"/>
          </a:xfrm>
          <a:custGeom>
            <a:avLst/>
            <a:gdLst/>
            <a:ahLst/>
            <a:cxnLst/>
            <a:rect l="l" t="t" r="r" b="b"/>
            <a:pathLst>
              <a:path w="13318462" h="8525831">
                <a:moveTo>
                  <a:pt x="0" y="0"/>
                </a:moveTo>
                <a:lnTo>
                  <a:pt x="13318462" y="0"/>
                </a:lnTo>
                <a:lnTo>
                  <a:pt x="13318462" y="8525831"/>
                </a:lnTo>
                <a:lnTo>
                  <a:pt x="0" y="8525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482" b="-162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8882" y="319421"/>
            <a:ext cx="5261074" cy="68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Dataset and Data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736247" y="1303018"/>
            <a:ext cx="13239565" cy="7174678"/>
          </a:xfrm>
          <a:custGeom>
            <a:avLst/>
            <a:gdLst/>
            <a:ahLst/>
            <a:cxnLst/>
            <a:rect l="l" t="t" r="r" b="b"/>
            <a:pathLst>
              <a:path w="13239565" h="7174678">
                <a:moveTo>
                  <a:pt x="0" y="0"/>
                </a:moveTo>
                <a:lnTo>
                  <a:pt x="13239565" y="0"/>
                </a:lnTo>
                <a:lnTo>
                  <a:pt x="13239565" y="7174678"/>
                </a:lnTo>
                <a:lnTo>
                  <a:pt x="0" y="7174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78" b="-217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9568" y="87541"/>
            <a:ext cx="4094931" cy="68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398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NLP 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63222" y="7286968"/>
            <a:ext cx="71199" cy="435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59352" y="414528"/>
            <a:ext cx="10917936" cy="6882384"/>
            <a:chOff x="0" y="0"/>
            <a:chExt cx="14557248" cy="91765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248" cy="9176512"/>
            </a:xfrm>
            <a:custGeom>
              <a:avLst/>
              <a:gdLst/>
              <a:ahLst/>
              <a:cxnLst/>
              <a:rect l="l" t="t" r="r" b="b"/>
              <a:pathLst>
                <a:path w="14557248" h="9176512">
                  <a:moveTo>
                    <a:pt x="0" y="0"/>
                  </a:moveTo>
                  <a:lnTo>
                    <a:pt x="14557248" y="0"/>
                  </a:lnTo>
                  <a:lnTo>
                    <a:pt x="14557248" y="9176512"/>
                  </a:lnTo>
                  <a:lnTo>
                    <a:pt x="0" y="9176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89" b="-198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1000" y="954024"/>
            <a:ext cx="17434560" cy="8799576"/>
            <a:chOff x="0" y="0"/>
            <a:chExt cx="23246080" cy="117327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46080" cy="11732768"/>
            </a:xfrm>
            <a:custGeom>
              <a:avLst/>
              <a:gdLst/>
              <a:ahLst/>
              <a:cxnLst/>
              <a:rect l="l" t="t" r="r" b="b"/>
              <a:pathLst>
                <a:path w="23246080" h="11732768">
                  <a:moveTo>
                    <a:pt x="0" y="0"/>
                  </a:moveTo>
                  <a:lnTo>
                    <a:pt x="23246080" y="0"/>
                  </a:lnTo>
                  <a:lnTo>
                    <a:pt x="23246080" y="11732768"/>
                  </a:lnTo>
                  <a:lnTo>
                    <a:pt x="0" y="1173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7449" y="1413946"/>
            <a:ext cx="13971502" cy="8873054"/>
            <a:chOff x="0" y="0"/>
            <a:chExt cx="14833277" cy="94203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3276" cy="9420352"/>
            </a:xfrm>
            <a:custGeom>
              <a:avLst/>
              <a:gdLst/>
              <a:ahLst/>
              <a:cxnLst/>
              <a:rect l="l" t="t" r="r" b="b"/>
              <a:pathLst>
                <a:path w="14833276" h="9420352">
                  <a:moveTo>
                    <a:pt x="0" y="0"/>
                  </a:moveTo>
                  <a:lnTo>
                    <a:pt x="14833276" y="0"/>
                  </a:lnTo>
                  <a:lnTo>
                    <a:pt x="14833276" y="9420352"/>
                  </a:lnTo>
                  <a:lnTo>
                    <a:pt x="0" y="942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060" b="-906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268882" y="319421"/>
            <a:ext cx="8024317" cy="68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Timeline of the Project (Gantt Chart)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183830"/>
            <a:ext cx="15996529" cy="9006416"/>
          </a:xfrm>
          <a:custGeom>
            <a:avLst/>
            <a:gdLst/>
            <a:ahLst/>
            <a:cxnLst/>
            <a:rect l="l" t="t" r="r" b="b"/>
            <a:pathLst>
              <a:path w="15996529" h="9006416">
                <a:moveTo>
                  <a:pt x="0" y="0"/>
                </a:moveTo>
                <a:lnTo>
                  <a:pt x="15996529" y="0"/>
                </a:lnTo>
                <a:lnTo>
                  <a:pt x="15996529" y="9006417"/>
                </a:lnTo>
                <a:lnTo>
                  <a:pt x="0" y="900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2" t="-3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29393" y="220697"/>
            <a:ext cx="4341540" cy="68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98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Results and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29" y="9292666"/>
            <a:ext cx="8174698" cy="18288"/>
          </a:xfrm>
          <a:custGeom>
            <a:avLst/>
            <a:gdLst/>
            <a:ahLst/>
            <a:cxnLst/>
            <a:rect l="l" t="t" r="r" b="b"/>
            <a:pathLst>
              <a:path w="8174698" h="18288">
                <a:moveTo>
                  <a:pt x="0" y="0"/>
                </a:moveTo>
                <a:lnTo>
                  <a:pt x="8174698" y="0"/>
                </a:lnTo>
                <a:lnTo>
                  <a:pt x="8174698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9901" y="2471290"/>
            <a:ext cx="7635202" cy="18288"/>
          </a:xfrm>
          <a:custGeom>
            <a:avLst/>
            <a:gdLst/>
            <a:ahLst/>
            <a:cxnLst/>
            <a:rect l="l" t="t" r="r" b="b"/>
            <a:pathLst>
              <a:path w="7635202" h="18288">
                <a:moveTo>
                  <a:pt x="0" y="0"/>
                </a:moveTo>
                <a:lnTo>
                  <a:pt x="7635202" y="0"/>
                </a:lnTo>
                <a:lnTo>
                  <a:pt x="763520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0485" y="4921882"/>
            <a:ext cx="8214322" cy="18288"/>
          </a:xfrm>
          <a:custGeom>
            <a:avLst/>
            <a:gdLst/>
            <a:ahLst/>
            <a:cxnLst/>
            <a:rect l="l" t="t" r="r" b="b"/>
            <a:pathLst>
              <a:path w="8214322" h="18288">
                <a:moveTo>
                  <a:pt x="0" y="0"/>
                </a:moveTo>
                <a:lnTo>
                  <a:pt x="8214322" y="0"/>
                </a:lnTo>
                <a:lnTo>
                  <a:pt x="821432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0485" y="6878698"/>
            <a:ext cx="7665682" cy="18288"/>
          </a:xfrm>
          <a:custGeom>
            <a:avLst/>
            <a:gdLst/>
            <a:ahLst/>
            <a:cxnLst/>
            <a:rect l="l" t="t" r="r" b="b"/>
            <a:pathLst>
              <a:path w="7665682" h="18288">
                <a:moveTo>
                  <a:pt x="0" y="0"/>
                </a:moveTo>
                <a:lnTo>
                  <a:pt x="7665682" y="0"/>
                </a:lnTo>
                <a:lnTo>
                  <a:pt x="766568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8952" y="-227524"/>
            <a:ext cx="6993274" cy="174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7"/>
              </a:lnSpc>
            </a:pPr>
            <a:r>
              <a:rPr lang="en-US" sz="3983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</a:p>
          <a:p>
            <a:pPr algn="l">
              <a:lnSpc>
                <a:spcPts val="6543"/>
              </a:lnSpc>
            </a:pPr>
            <a:r>
              <a:rPr lang="en-US" sz="3192" spc="25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6813" y="959520"/>
            <a:ext cx="103375" cy="56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spc="25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8952" y="2914412"/>
            <a:ext cx="4478331" cy="56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Airlangga, M. C., et 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4608" y="3907822"/>
            <a:ext cx="8387629" cy="1072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IEEE.</a:t>
            </a:r>
          </a:p>
          <a:p>
            <a:pPr algn="l">
              <a:lnSpc>
                <a:spcPts val="4472"/>
              </a:lnSpc>
            </a:pPr>
            <a:r>
              <a:rPr lang="en-US" sz="3194" i="1" spc="6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  <a:hlinkClick r:id="rId6" tooltip="https://doi.org/10.1109/ISC257844.2023.10293572"/>
              </a:rPr>
              <a:t>https://doi.org/10.1109/ISC257844.2023.10293572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" y="7357377"/>
            <a:ext cx="15814043" cy="54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S. K., A. Ravikurnar, V. R C., A. Reddy D., A. K. M. and S. K.P., "Sentiment Analysis of Indian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144" y="8325707"/>
            <a:ext cx="12550740" cy="102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Communication and Informatics (ICCCI), Coimbatore, India, 2018, pp. 1-4, </a:t>
            </a:r>
            <a:r>
              <a:rPr lang="en-US" sz="3192" i="1" spc="6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https://doi.org/</a:t>
            </a: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3192" i="1" spc="6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10.1109/ICCCI.2018.8441371.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4608" y="978570"/>
            <a:ext cx="17364837" cy="54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Sarvestani,M.(2025).</a:t>
            </a: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An NLP-basedframework for sentiment and topic analysis of citizen feedback 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4608" y="1471117"/>
            <a:ext cx="12197591" cy="54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i="1" spc="9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U.K. government mobile applications</a:t>
            </a:r>
            <a:r>
              <a:rPr lang="en-US" sz="3192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</a:t>
            </a:r>
            <a:r>
              <a:rPr lang="en-US" sz="3192" i="1" spc="9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IEEE Access, 13</a:t>
            </a:r>
            <a:r>
              <a:rPr lang="en-US" sz="3192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 210360–210377.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120" y="1987144"/>
            <a:ext cx="7786878" cy="54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2" i="1" spc="6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  <a:hlinkClick r:id="rId7" tooltip="https://doi.org/10.1109/ACCESS.2025.3641669"/>
              </a:rPr>
              <a:t>https://doi.org/10.1109/ACCESS.2025.3641669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0734" y="2935891"/>
            <a:ext cx="12967421" cy="1038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68"/>
              </a:lnSpc>
            </a:pPr>
            <a:r>
              <a:rPr lang="en-US" sz="319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(2023).</a:t>
            </a: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Understanding citizen feedback of Jakarta government super app:</a:t>
            </a:r>
          </a:p>
          <a:p>
            <a:pPr algn="r">
              <a:lnSpc>
                <a:spcPts val="4472"/>
              </a:lnSpc>
            </a:pPr>
            <a:r>
              <a:rPr lang="en-US" sz="31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(pp. 1–6).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4608" y="3427905"/>
            <a:ext cx="15622876" cy="54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194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Leveraging deep learning models</a:t>
            </a:r>
            <a:r>
              <a:rPr lang="en-US" sz="319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In</a:t>
            </a:r>
            <a:r>
              <a:rPr lang="en-US" sz="3194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2023 IEEE International Smart Cities Conference (ISC2)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8952" y="5384406"/>
            <a:ext cx="16009925" cy="54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19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•Alkraiji, A. I. (2020). </a:t>
            </a:r>
            <a:r>
              <a:rPr lang="en-US" sz="3194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Citizen satisfaction with mandatory e-government services: A conceptual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4608" y="5917892"/>
            <a:ext cx="12120963" cy="102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8"/>
              </a:lnSpc>
            </a:pP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framework and an empirical validation</a:t>
            </a:r>
            <a:r>
              <a:rPr lang="en-US" sz="319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</a:t>
            </a:r>
            <a:r>
              <a:rPr lang="en-US" sz="319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IEEE Access, 8</a:t>
            </a:r>
            <a:r>
              <a:rPr lang="en-US" sz="319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 117253–117265. </a:t>
            </a:r>
            <a:r>
              <a:rPr lang="en-US" sz="3192" i="1" spc="6">
                <a:solidFill>
                  <a:srgbClr val="0000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  <a:hlinkClick r:id="rId8" tooltip="https://doi.org/10.1109/ACCESS.2020.3004541"/>
              </a:rPr>
              <a:t>https://doi.org/10.1109/ACCESS.2020.3004541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2144" y="7843590"/>
            <a:ext cx="15974854" cy="54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194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LanguagesusingConvolutionalNeuralNetworks,"2018InternationalConferenceonComputer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1774" y="9641205"/>
            <a:ext cx="9116616" cy="18288"/>
          </a:xfrm>
          <a:custGeom>
            <a:avLst/>
            <a:gdLst/>
            <a:ahLst/>
            <a:cxnLst/>
            <a:rect l="l" t="t" r="r" b="b"/>
            <a:pathLst>
              <a:path w="9116616" h="18288">
                <a:moveTo>
                  <a:pt x="0" y="0"/>
                </a:moveTo>
                <a:lnTo>
                  <a:pt x="9116616" y="0"/>
                </a:lnTo>
                <a:lnTo>
                  <a:pt x="9116616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0142" y="1868805"/>
            <a:ext cx="8421672" cy="18288"/>
          </a:xfrm>
          <a:custGeom>
            <a:avLst/>
            <a:gdLst/>
            <a:ahLst/>
            <a:cxnLst/>
            <a:rect l="l" t="t" r="r" b="b"/>
            <a:pathLst>
              <a:path w="8421672" h="18288">
                <a:moveTo>
                  <a:pt x="0" y="0"/>
                </a:moveTo>
                <a:lnTo>
                  <a:pt x="8421672" y="0"/>
                </a:lnTo>
                <a:lnTo>
                  <a:pt x="842167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0142" y="4612005"/>
            <a:ext cx="8421672" cy="18288"/>
          </a:xfrm>
          <a:custGeom>
            <a:avLst/>
            <a:gdLst/>
            <a:ahLst/>
            <a:cxnLst/>
            <a:rect l="l" t="t" r="r" b="b"/>
            <a:pathLst>
              <a:path w="8421672" h="18288">
                <a:moveTo>
                  <a:pt x="0" y="0"/>
                </a:moveTo>
                <a:lnTo>
                  <a:pt x="8421672" y="0"/>
                </a:lnTo>
                <a:lnTo>
                  <a:pt x="8421672" y="18288"/>
                </a:lnTo>
                <a:lnTo>
                  <a:pt x="0" y="1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6648" y="7291702"/>
            <a:ext cx="8509054" cy="145285"/>
          </a:xfrm>
          <a:custGeom>
            <a:avLst/>
            <a:gdLst/>
            <a:ahLst/>
            <a:cxnLst/>
            <a:rect l="l" t="t" r="r" b="b"/>
            <a:pathLst>
              <a:path w="8509054" h="145285">
                <a:moveTo>
                  <a:pt x="0" y="0"/>
                </a:moveTo>
                <a:lnTo>
                  <a:pt x="8509054" y="0"/>
                </a:lnTo>
                <a:lnTo>
                  <a:pt x="8509054" y="145285"/>
                </a:lnTo>
                <a:lnTo>
                  <a:pt x="0" y="145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25119" y="7795679"/>
            <a:ext cx="136017" cy="52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0063" y="7819339"/>
            <a:ext cx="97155" cy="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2400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255" y="7961928"/>
            <a:ext cx="16489118" cy="127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5"/>
              </a:lnSpc>
            </a:pPr>
            <a:r>
              <a:rPr lang="en-US" sz="300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Policy Regarding PPKM on Twitter Using LSTM," 2022 4th International Conference on Cybernetics and IntelligentSystem (ICORIS),Prapat, Indonesia,2022, pp.1-6,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1839" y="9190911"/>
            <a:ext cx="8537038" cy="5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i="1" spc="6">
                <a:solidFill>
                  <a:srgbClr val="4F81BD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https://doi.org/ 10.1109/ICORIS56080.2022.10031474.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5119" y="497081"/>
            <a:ext cx="16936498" cy="50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300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G. Chauhan, S. Puri and R. Nahta, "Analysis of Government Flagship Programs using Public Feedbacks,"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5119" y="5070224"/>
            <a:ext cx="17089412" cy="50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300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C. Nagesh, B. Divyasree, K. Madhu, T. Allisha, S. Datta Koushlk and P. Naresh, "Enhancing E-Government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255" y="5989615"/>
            <a:ext cx="17258805" cy="96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International Conference on Science Technology Engineering and Management (ICSTEM), Coimbatore, India, 2024,pp. 1-6,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255" y="5532701"/>
            <a:ext cx="15553344" cy="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through SentimentAnalysis:ADualApproachUsingTextandFacialExpressionRecognition,"2024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4887" y="6904558"/>
            <a:ext cx="8453266" cy="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6">
                <a:solidFill>
                  <a:srgbClr val="4F81BD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https://doi.org/10.1109/ICSTEM61137.2024.10560678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255" y="7819339"/>
            <a:ext cx="16929840" cy="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G.A.Sandag,E. H.E.Soegiarto,L. Laoh,A.Gunawan andD.Sondakh,"SentimentAnalysisofGovernment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1255" y="1016584"/>
            <a:ext cx="17106328" cy="90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20232ndInternationalConferenceforInnovationinTechnology(INOCON),Bangalore,India,2023,pp.1-7, </a:t>
            </a:r>
            <a:r>
              <a:rPr lang="en-US" sz="3000" i="1" spc="6">
                <a:solidFill>
                  <a:srgbClr val="4F81BD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https://doi.org/10.1109/INOCON57975.2023.10101351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119" y="2326805"/>
            <a:ext cx="17303306" cy="50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</a:t>
            </a:r>
            <a:r>
              <a:rPr lang="en-US" sz="3000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I. H. Hafidz, A. Sulistya and B. R. Lidiawaty, "Sentiment Analysis of Public Complaints: A Machine Learning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1255" y="2845479"/>
            <a:ext cx="17126664" cy="182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1" spc="6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Comparison of SVM, Naive Bayes, Random Forest, and XGBoost," 2025 International Conference on Advancement in Data Science, E-learning and Information System (ICADEIS), Bandung, Indonesia, 2025, pp. 1-6, </a:t>
            </a:r>
          </a:p>
          <a:p>
            <a:pPr algn="l">
              <a:lnSpc>
                <a:spcPts val="3602"/>
              </a:lnSpc>
            </a:pPr>
            <a:r>
              <a:rPr lang="en-US" sz="3002" i="1" spc="6">
                <a:solidFill>
                  <a:srgbClr val="4F81BD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https://doi.org/10.1109/ICADEIS65852.2025.10933382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03792"/>
            <a:ext cx="18288000" cy="1283208"/>
            <a:chOff x="0" y="0"/>
            <a:chExt cx="24384000" cy="1710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10944"/>
            </a:xfrm>
            <a:custGeom>
              <a:avLst/>
              <a:gdLst/>
              <a:ahLst/>
              <a:cxnLst/>
              <a:rect l="l" t="t" r="r" b="b"/>
              <a:pathLst>
                <a:path w="24384000" h="1710944">
                  <a:moveTo>
                    <a:pt x="0" y="0"/>
                  </a:moveTo>
                  <a:lnTo>
                    <a:pt x="24384000" y="0"/>
                  </a:lnTo>
                  <a:lnTo>
                    <a:pt x="24384000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300" b="-6130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123432" y="2161032"/>
            <a:ext cx="5839968" cy="5903976"/>
            <a:chOff x="0" y="0"/>
            <a:chExt cx="7786624" cy="78719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86624" cy="7871968"/>
            </a:xfrm>
            <a:custGeom>
              <a:avLst/>
              <a:gdLst/>
              <a:ahLst/>
              <a:cxnLst/>
              <a:rect l="l" t="t" r="r" b="b"/>
              <a:pathLst>
                <a:path w="7786624" h="7871968">
                  <a:moveTo>
                    <a:pt x="0" y="0"/>
                  </a:moveTo>
                  <a:lnTo>
                    <a:pt x="7786624" y="0"/>
                  </a:lnTo>
                  <a:lnTo>
                    <a:pt x="7786624" y="7871968"/>
                  </a:lnTo>
                  <a:lnTo>
                    <a:pt x="0" y="787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992</Words>
  <Application>Microsoft Office PowerPoint</Application>
  <PresentationFormat>Custom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Cambria</vt:lpstr>
      <vt:lpstr>Times New Roman</vt:lpstr>
      <vt:lpstr>Verdana</vt:lpstr>
      <vt:lpstr>Times New Roman Bold</vt:lpstr>
      <vt:lpstr>Arial</vt:lpstr>
      <vt:lpstr>IBM Plex Sans Condensed Italics</vt:lpstr>
      <vt:lpstr>Calibri</vt:lpstr>
      <vt:lpstr>Open Sans</vt:lpstr>
      <vt:lpstr>IBM Plex Sans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project_review-3.pdf</dc:title>
  <dc:creator>P Tejaswini</dc:creator>
  <cp:lastModifiedBy>P TEJASWINI</cp:lastModifiedBy>
  <cp:revision>2</cp:revision>
  <dcterms:created xsi:type="dcterms:W3CDTF">2006-08-16T00:00:00Z</dcterms:created>
  <dcterms:modified xsi:type="dcterms:W3CDTF">2026-10-24T04:03:33Z</dcterms:modified>
  <dc:identifier>DAHY4igiL7w</dc:identifier>
</cp:coreProperties>
</file>